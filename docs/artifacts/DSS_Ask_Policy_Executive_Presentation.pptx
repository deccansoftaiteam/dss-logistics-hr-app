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9B6B"/>
                </a:solidFill>
                <a:latin typeface="Segoe UI"/>
              </a:rPr>
              <a:t>FORWARD DEPLOYED AI ENGINEER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egoe UI"/>
              </a:rPr>
              <a:t>DSS Ask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Segoe UI"/>
              </a:rPr>
              <a:t>A permission-aware HR policy assistant with citations, escalations, and an evidence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2011680" cy="45720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Segoe UI"/>
              </a:rPr>
              <a:t>From an ambiguous ask to a shipped, evaluated, handed-over system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Fictional client · synthetic corpus · delivered v1.0.0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What we built and why it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9B6B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Approved policy documents, permission-tagged, version-controlled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65176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5564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9B6B"/>
                </a:solidFill>
                <a:latin typeface="Segoe UI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231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Gold-set evaluation cases (24 dev · 12 held-out)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65176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5564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9B6B"/>
                </a:solidFill>
                <a:latin typeface="Segoe U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Pipeline spans traced on every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54480"/>
            <a:ext cx="265176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75564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9B6B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4231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Access-control violations on the held-out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Permission-aware RAG. </a:t>
            </a:r>
            <a:r>
              <a:rPr sz="1400" b="0">
                <a:solidFill>
                  <a:srgbClr val="334155"/>
                </a:solidFill>
                <a:latin typeface="Segoe UI"/>
              </a:rPr>
              <a:t>Answers come only from content the caller is entitled to see — enforced in SQL, not by the model.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Mandatory citations. </a:t>
            </a:r>
            <a:r>
              <a:rPr sz="1400" b="0">
                <a:solidFill>
                  <a:srgbClr val="334155"/>
                </a:solidFill>
                <a:latin typeface="Segoe UI"/>
              </a:rPr>
              <a:t>Every factual answer names the document and section; unsupported answers are withheld.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Deterministic safety. </a:t>
            </a:r>
            <a:r>
              <a:rPr sz="1400" b="0">
                <a:solidFill>
                  <a:srgbClr val="334155"/>
                </a:solidFill>
                <a:latin typeface="Segoe UI"/>
              </a:rPr>
              <a:t>Legal, disciplinary, medical and separation questions reach a human — 100% recall.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One approval-gated action. </a:t>
            </a:r>
            <a:r>
              <a:rPr sz="1400" b="0">
                <a:solidFill>
                  <a:srgbClr val="334155"/>
                </a:solidFill>
                <a:latin typeface="Segoe UI"/>
              </a:rPr>
              <a:t>Escalations create a real helpdesk ticket, but only after the employee confirms.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Provable audit trail. </a:t>
            </a:r>
            <a:r>
              <a:rPr sz="1400" b="0">
                <a:solidFill>
                  <a:srgbClr val="334155"/>
                </a:solidFill>
                <a:latin typeface="Segoe UI"/>
              </a:rPr>
              <a:t>Every request produces a trace of the pipeline's decisions — including the denied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The ask was a solution — the real problem was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Segoe UI"/>
              </a:rPr>
              <a:t>WHAT THEY ASKED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1206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>"Can we build a chatbot that answers employee policy questions?"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Segoe UI"/>
              </a:rPr>
              <a:t>WHAT DISCOVERY REVEALED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0"/>
            <a:ext cx="5669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~1,800 </a:t>
            </a:r>
            <a:r>
              <a:rPr sz="1500" b="0">
                <a:solidFill>
                  <a:srgbClr val="334155"/>
                </a:solidFill>
                <a:latin typeface="Segoe UI"/>
              </a:rPr>
              <a:t>HR tickets per month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41% </a:t>
            </a:r>
            <a:r>
              <a:rPr sz="1500" b="0">
                <a:solidFill>
                  <a:srgbClr val="334155"/>
                </a:solidFill>
                <a:latin typeface="Segoe UI"/>
              </a:rPr>
              <a:t>are policy lookups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Regional addenda contradict </a:t>
            </a:r>
            <a:r>
              <a:rPr sz="1500" b="0">
                <a:solidFill>
                  <a:srgbClr val="334155"/>
                </a:solidFill>
                <a:latin typeface="Segoe UI"/>
              </a:rPr>
              <a:t>corporate policy — even HR staff disagree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26 hours </a:t>
            </a:r>
            <a:r>
              <a:rPr sz="1500" b="0">
                <a:solidFill>
                  <a:srgbClr val="334155"/>
                </a:solidFill>
                <a:latin typeface="Segoe UI"/>
              </a:rPr>
              <a:t>median resolution for answerable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51960"/>
            <a:ext cx="11109960" cy="1280160"/>
          </a:xfrm>
          <a:prstGeom prst="round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The real problem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Employees and HR cannot reliably determine the current, region-correct answer — and there is no evidence trail for the answers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109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Segoe UI"/>
              </a:rPr>
              <a:t>So we scoped for trust, not for typing speed: correct answers, cited, region-aware, with a hard boundary around restricted HR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DSS Ask Policy — two surfaces, one evidence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11880" cy="64008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Employee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Cited answers from approved policy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Region-aware precedence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Redirects entitlement questions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Offers escalation, never guesses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11880" cy="64008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556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Safety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Must-escalate rules run before generation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Permission denial never confirms existence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Injection-resistant retrieval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Human confirmation before any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61188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611880" cy="64008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556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HR Operations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68880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Live KPI overview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Per-request execution traces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Policy library governance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Quality / release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Thin BFF, secure backend, one datastore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377440" cy="11430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Employee / HR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2E8F0"/>
                </a:solidFill>
                <a:latin typeface="Segoe UI"/>
              </a:rPr>
              <a:t>Browser · Clerk sign-in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651760" cy="114300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470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Next.js 14 BFF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2E8F0"/>
                </a:solidFill>
                <a:latin typeface="Segoe UI"/>
              </a:rPr>
              <a:t>Portal · Ops console · API proxy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2743200" cy="114300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8470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2E8F0"/>
                </a:solidFill>
                <a:latin typeface="Segoe UI"/>
              </a:rPr>
              <a:t>Auth · retrieval · generation · 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1737360"/>
            <a:ext cx="1691640" cy="114300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1847088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Azure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219456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2E8F0"/>
                </a:solidFill>
                <a:latin typeface="Segoe UI"/>
              </a:rPr>
              <a:t>gpt-5.6-luna · embeddings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212848"/>
            <a:ext cx="548640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212848"/>
            <a:ext cx="548640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2212848"/>
            <a:ext cx="548640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0" y="3383280"/>
            <a:ext cx="2743200" cy="100584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4930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PostgreSQL + pgvector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8404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2E8F0"/>
                </a:solidFill>
                <a:latin typeface="Segoe UI"/>
              </a:rPr>
              <a:t>Hybrid search · traces · evals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383280"/>
            <a:ext cx="1691640" cy="100584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493008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Jira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84048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2E8F0"/>
                </a:solidFill>
                <a:latin typeface="Segoe UI"/>
              </a:rPr>
              <a:t>Escalation tickets (HRSD)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383280"/>
            <a:ext cx="2651760" cy="100584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4930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Azure Blob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8404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2E8F0"/>
                </a:solidFill>
                <a:latin typeface="Segoe UI"/>
              </a:rPr>
              <a:t>Corpus objects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880360"/>
            <a:ext cx="54864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89920" y="2880360"/>
            <a:ext cx="54864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63440"/>
            <a:ext cx="11109960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Authorization in SQL. </a:t>
            </a:r>
            <a:r>
              <a:rPr sz="1300" b="0">
                <a:solidFill>
                  <a:srgbClr val="334155"/>
                </a:solidFill>
                <a:latin typeface="Segoe UI"/>
              </a:rPr>
              <a:t>Every retrieval filters on the caller's allowed groups and the current version — the model never sees restricted content.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Hybrid retrieval. </a:t>
            </a:r>
            <a:r>
              <a:rPr sz="1300" b="0">
                <a:solidFill>
                  <a:srgbClr val="334155"/>
                </a:solidFill>
                <a:latin typeface="Segoe UI"/>
              </a:rPr>
              <a:t>Vector + keyword candidates fused with Reciprocal Rank Fusion, then graph-expanded for addenda and conflicts.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Deliberately simple ops. </a:t>
            </a:r>
            <a:r>
              <a:rPr sz="1300" b="0">
                <a:solidFill>
                  <a:srgbClr val="334155"/>
                </a:solidFill>
                <a:latin typeface="Segoe UI"/>
              </a:rPr>
              <a:t>No message queue, no external cache, no APM service — appropriate for a 600-user pilot.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The denied path is proven, not promised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" y="1579245"/>
            <a:ext cx="6785610" cy="42481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b_ops_denied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770"/>
            <a:ext cx="6766560" cy="422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00200"/>
            <a:ext cx="41148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Enforced in the query. </a:t>
            </a:r>
            <a:r>
              <a:rPr sz="1300" b="0">
                <a:solidFill>
                  <a:srgbClr val="334155"/>
                </a:solidFill>
                <a:latin typeface="Segoe UI"/>
              </a:rPr>
              <a:t>The audience filter runs in SQL; a caller without the HR group retrieves zero chunks.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No existence leak. </a:t>
            </a:r>
            <a:r>
              <a:rPr sz="1300" b="0">
                <a:solidFill>
                  <a:srgbClr val="334155"/>
                </a:solidFill>
                <a:latin typeface="Segoe UI"/>
              </a:rPr>
              <a:t>The refusal never confirms the restricted document exists.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Auditable. </a:t>
            </a:r>
            <a:r>
              <a:rPr sz="1300" b="0">
                <a:solidFill>
                  <a:srgbClr val="334155"/>
                </a:solidFill>
                <a:latin typeface="Segoe UI"/>
              </a:rPr>
              <a:t>The trace shows retrieval status = skip, reason = permission_denied, 0 citations.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Hard gate. </a:t>
            </a:r>
            <a:r>
              <a:rPr sz="1300" b="0">
                <a:solidFill>
                  <a:srgbClr val="334155"/>
                </a:solidFill>
                <a:latin typeface="Segoe UI"/>
              </a:rPr>
              <a:t>Any restricted-document retrieval fails the release regardless of other scores.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EMPLOYEE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 cited answer, with the evidence attached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" y="1579245"/>
            <a:ext cx="6785610" cy="42481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chat_answer_c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770"/>
            <a:ext cx="6766560" cy="422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00200"/>
            <a:ext cx="41148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Correct source. </a:t>
            </a:r>
            <a:r>
              <a:rPr sz="1300" b="0">
                <a:solidFill>
                  <a:srgbClr val="334155"/>
                </a:solidFill>
                <a:latin typeface="Segoe UI"/>
              </a:rPr>
              <a:t>Cites Remote Work &amp; Equipment Policy (POL-HR-006) §4.2 — the current version.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Region-aware. </a:t>
            </a:r>
            <a:r>
              <a:rPr sz="1300" b="0">
                <a:solidFill>
                  <a:srgbClr val="334155"/>
                </a:solidFill>
                <a:latin typeface="Segoe UI"/>
              </a:rPr>
              <a:t>States both the ₹25,000 and $300 allowances.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Citations on demand. </a:t>
            </a:r>
            <a:r>
              <a:rPr sz="1300" b="0">
                <a:solidFill>
                  <a:srgbClr val="334155"/>
                </a:solidFill>
                <a:latin typeface="Segoe UI"/>
              </a:rPr>
              <a:t>Five supporting passages available to expand.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No guesswork. </a:t>
            </a:r>
            <a:r>
              <a:rPr sz="1300" b="0">
                <a:solidFill>
                  <a:srgbClr val="334155"/>
                </a:solidFill>
                <a:latin typeface="Segoe UI"/>
              </a:rPr>
              <a:t>If no approved source supports the answer, the system says 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SAFETY &amp;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 sensitive question reaches a human — with a confirmation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" y="1579245"/>
            <a:ext cx="6785610" cy="42481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chat_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770"/>
            <a:ext cx="6766560" cy="422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00200"/>
            <a:ext cx="41148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Deterministic. </a:t>
            </a:r>
            <a:r>
              <a:rPr sz="1300" b="0">
                <a:solidFill>
                  <a:srgbClr val="334155"/>
                </a:solidFill>
                <a:latin typeface="Segoe UI"/>
              </a:rPr>
              <a:t>Separation, disciplinary, medical and legal questions escalate before the model runs — 100% recall.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Human in the loop. </a:t>
            </a:r>
            <a:r>
              <a:rPr sz="1300" b="0">
                <a:solidFill>
                  <a:srgbClr val="334155"/>
                </a:solidFill>
                <a:latin typeface="Segoe UI"/>
              </a:rPr>
              <a:t>A ticket is drafted, then created only after the employee confirms.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Real integration. </a:t>
            </a:r>
            <a:r>
              <a:rPr sz="1300" b="0">
                <a:solidFill>
                  <a:srgbClr val="334155"/>
                </a:solidFill>
                <a:latin typeface="Segoe UI"/>
              </a:rPr>
              <a:t>Confirmed escalations become Jira tickets in the HRSD project.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Traced. </a:t>
            </a:r>
            <a:r>
              <a:rPr sz="1300" b="0">
                <a:solidFill>
                  <a:srgbClr val="334155"/>
                </a:solidFill>
                <a:latin typeface="Segoe UI"/>
              </a:rPr>
              <a:t>Every tool call writes an escalation span.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OPERATIONS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The evidence surface for HR and InfoSec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" y="1579245"/>
            <a:ext cx="6785610" cy="42481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op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770"/>
            <a:ext cx="6766560" cy="422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00200"/>
            <a:ext cx="41148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Live KPIs. </a:t>
            </a:r>
            <a:r>
              <a:rPr sz="1300" b="0">
                <a:solidFill>
                  <a:srgbClr val="334155"/>
                </a:solidFill>
                <a:latin typeface="Segoe UI"/>
              </a:rPr>
              <a:t>Conversations, escalations, p50/p95 latency, release gate.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Governance. </a:t>
            </a:r>
            <a:r>
              <a:rPr sz="1300" b="0">
                <a:solidFill>
                  <a:srgbClr val="334155"/>
                </a:solidFill>
                <a:latin typeface="Segoe UI"/>
              </a:rPr>
              <a:t>Reclassify a document's audience clearance in one action.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Quality. </a:t>
            </a:r>
            <a:r>
              <a:rPr sz="1300" b="0">
                <a:solidFill>
                  <a:srgbClr val="334155"/>
                </a:solidFill>
                <a:latin typeface="Segoe UI"/>
              </a:rPr>
              <a:t>36 gold cases with per-case retrieval evidence.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Access control. </a:t>
            </a:r>
            <a:r>
              <a:rPr sz="1300" b="0">
                <a:solidFill>
                  <a:srgbClr val="334155"/>
                </a:solidFill>
                <a:latin typeface="Segoe UI"/>
              </a:rPr>
              <a:t>Restricted to verified HR and Admin — 403 otherwise.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One request, eight steps, fully explainable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" y="1579245"/>
            <a:ext cx="6785610" cy="424815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b_ops_trace_sp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770"/>
            <a:ext cx="6766560" cy="422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00200"/>
            <a:ext cx="41148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Span per step. </a:t>
            </a:r>
            <a:r>
              <a:rPr sz="1300" b="0">
                <a:solidFill>
                  <a:srgbClr val="334155"/>
                </a:solidFill>
                <a:latin typeface="Segoe UI"/>
              </a:rPr>
              <a:t>auth → permission_filter → retrieval → graph_expand → model_call → citation_check → outcome.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Decisions, not data. </a:t>
            </a:r>
            <a:r>
              <a:rPr sz="1300" b="0">
                <a:solidFill>
                  <a:srgbClr val="334155"/>
                </a:solidFill>
                <a:latin typeface="Segoe UI"/>
              </a:rPr>
              <a:t>Traces carry identifiers and decisions — never policy text or PII.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Root-cause ready. </a:t>
            </a:r>
            <a:r>
              <a:rPr sz="1300" b="0">
                <a:solidFill>
                  <a:srgbClr val="334155"/>
                </a:solidFill>
                <a:latin typeface="Segoe UI"/>
              </a:rPr>
              <a:t>The same viewer caught the permission-propagation incident in the story.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00" b="1">
                <a:solidFill>
                  <a:srgbClr val="0F172A"/>
                </a:solidFill>
                <a:latin typeface="Segoe UI"/>
              </a:rPr>
              <a:t>No APM bill. </a:t>
            </a:r>
            <a:r>
              <a:rPr sz="1300" b="0">
                <a:solidFill>
                  <a:srgbClr val="334155"/>
                </a:solidFill>
                <a:latin typeface="Segoe UI"/>
              </a:rPr>
              <a:t>Spans live in Postgres, queried by the console.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Empirical gates, not vibes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" y="2115820"/>
            <a:ext cx="6511290" cy="3175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ops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5345"/>
            <a:ext cx="6492240" cy="31559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600200"/>
            <a:ext cx="42976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80136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9B6B"/>
                </a:solidFill>
                <a:latin typeface="Segoe U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46888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Must-escalate recall — every sensitive case reached a human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017520"/>
            <a:ext cx="42976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21868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9B6B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8620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Access-control violations — the security property that matters most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434840"/>
            <a:ext cx="4297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572000"/>
            <a:ext cx="38404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9B6B"/>
                </a:solidFill>
                <a:latin typeface="Segoe UI"/>
              </a:rPr>
              <a:t>Release gate: PASS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4155"/>
                </a:solidFill>
                <a:latin typeface="Segoe UI"/>
              </a:rPr>
              <a:t>Correctness 100% on both the development and the held-out set. Getting there honestly required fixing the measurement layer itself: outcome vocabularies, refusal labelling, conflict-gate topically, and a data-driven restricted-content probe.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The KPI contract we agreed, and what we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10996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37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111099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Answer correctness with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≥ 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2402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169B6B"/>
                </a:solidFill>
                <a:latin typeface="Segoe UI"/>
              </a:rPr>
              <a:t>100% dev · 100% holdout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61488"/>
            <a:ext cx="11109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4436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Must-escalate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4436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≥ 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89864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169B6B"/>
                </a:solidFill>
                <a:latin typeface="Segoe UI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19856"/>
            <a:ext cx="111099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0273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Policy tickets avoided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0273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20% fewer by wk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5701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B45309"/>
                </a:solidFill>
                <a:latin typeface="Segoe UI"/>
              </a:rPr>
              <a:t>Illustrative: 71% of sessions resolved without a ticket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78224"/>
            <a:ext cx="111099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6110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Latency p50 / p95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6110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&lt; 4 s / &lt; 8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1538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B45309"/>
                </a:solidFill>
                <a:latin typeface="Segoe UI"/>
              </a:rPr>
              <a:t>Not met in the cold remote setup — fix identified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36592"/>
            <a:ext cx="11109960" cy="6583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1947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Segoe UI"/>
              </a:rPr>
              <a:t>Access-control violations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1947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egoe U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87375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>
                <a:solidFill>
                  <a:srgbClr val="169B6B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What we are honest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10996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50" b="1">
                <a:solidFill>
                  <a:srgbClr val="0F172A"/>
                </a:solidFill>
                <a:latin typeface="Segoe UI"/>
              </a:rPr>
              <a:t>The measurement layer was the bug. </a:t>
            </a:r>
            <a:r>
              <a:rPr sz="1350" b="0">
                <a:solidFill>
                  <a:srgbClr val="334155"/>
                </a:solidFill>
                <a:latin typeface="Segoe UI"/>
              </a:rPr>
              <a:t>The initial 58.33% was mostly broken measurement: outcome vocabularies compared literally, refusals labelled as answers, a conflict gate firing on incidental co-retrieval, and four impossible test expectations. All fixed and regression-tested — correctness is now 100% on both splits.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50" b="1">
                <a:solidFill>
                  <a:srgbClr val="0F172A"/>
                </a:solidFill>
                <a:latin typeface="Segoe UI"/>
              </a:rPr>
              <a:t>Token signature verification. </a:t>
            </a:r>
            <a:r>
              <a:rPr sz="1350" b="0">
                <a:solidFill>
                  <a:srgbClr val="334155"/>
                </a:solidFill>
                <a:latin typeface="Segoe UI"/>
              </a:rPr>
              <a:t>The API decodes session claims without verifying the signature. Compensated by the BFF-only path, but must be fixed before real use.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50" b="1">
                <a:solidFill>
                  <a:srgbClr val="0F172A"/>
                </a:solidFill>
                <a:latin typeface="Segoe UI"/>
              </a:rPr>
              <a:t>Latency above target. </a:t>
            </a:r>
            <a:r>
              <a:rPr sz="1350" b="0">
                <a:solidFill>
                  <a:srgbClr val="334155"/>
                </a:solidFill>
                <a:latin typeface="Segoe UI"/>
              </a:rPr>
              <a:t>The hybrid + graph query over a remote cold database exceeds the p50/p95 NFR. Pooling, caching and co-location are the fixes.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50" b="1">
                <a:solidFill>
                  <a:srgbClr val="0F172A"/>
                </a:solidFill>
                <a:latin typeface="Segoe UI"/>
              </a:rPr>
              <a:t>Synthetic-data label not in the UI. </a:t>
            </a:r>
            <a:r>
              <a:rPr sz="1350" b="0">
                <a:solidFill>
                  <a:srgbClr val="334155"/>
                </a:solidFill>
                <a:latin typeface="Segoe UI"/>
              </a:rPr>
              <a:t>Required by the engagement; the label is in the documents but not yet surfaced in the app.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350" b="1">
                <a:solidFill>
                  <a:srgbClr val="0F172A"/>
                </a:solidFill>
                <a:latin typeface="Segoe UI"/>
              </a:rPr>
              <a:t>Planned-service substitutions. </a:t>
            </a:r>
            <a:r>
              <a:rPr sz="1350" b="0">
                <a:solidFill>
                  <a:srgbClr val="334155"/>
                </a:solidFill>
                <a:latin typeface="Segoe UI"/>
              </a:rPr>
              <a:t>AI Search → Postgres hybrid, ServiceNow → Jira, Entra → Clerk, OTel → DB spans — all deliberate and documented.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9B6B"/>
                </a:solidFill>
                <a:latin typeface="Segoe U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What we would do in the following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11880" cy="59436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Immediate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2004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Fix the eval scorer and re-run the gate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Verify JWT signatures on every request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Surface the synthetic-data label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Render markdown in the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11880" cy="59436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Short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2004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Meet latency NFRs (pooling/caching)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Near-real-time permission propagation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Automate cost per successful task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Eval-gated CI on pull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6118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611880" cy="594360"/>
          </a:xfrm>
          <a:prstGeom prst="roundRect">
            <a:avLst/>
          </a:prstGeom>
          <a:solidFill>
            <a:srgbClr val="0B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32004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HR-system read for leave balances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US business-unit rollout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M365 / Teams surface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169B6B"/>
                </a:solidFill>
                <a:latin typeface="Segoe UI"/>
              </a:rPr>
              <a:t>▸  </a:t>
            </a:r>
            <a:r>
              <a:rPr sz="1250" b="0">
                <a:solidFill>
                  <a:srgbClr val="334155"/>
                </a:solidFill>
                <a:latin typeface="Segoe UI"/>
              </a:rPr>
              <a:t>Agent actions on records — with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Teaching artifact · fictional client · synthetic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9B6B"/>
                </a:solidFill>
                <a:latin typeface="Segoe UI"/>
              </a:rP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 working system is not the deliverable.</a:t>
            </a:r>
          </a:p>
          <a:p>
            <a:pPr algn="l"/>
            <a:r>
              <a:rPr sz="3000" b="1">
                <a:solidFill>
                  <a:srgbClr val="169B6B"/>
                </a:solidFill>
                <a:latin typeface="Segoe UI"/>
              </a:rPr>
              <a:t>A system the customer can trust, run, and hand over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Segoe UI"/>
              </a:rPr>
              <a:t>Correct answers with evidence · deterministic safety · a hard permission boundary · a provable audit trail.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Teaching artifact · fictional client · synthetic corpus · DSS Ask Policy 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